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302" r:id="rId3"/>
    <p:sldId id="256" r:id="rId4"/>
    <p:sldId id="276" r:id="rId5"/>
    <p:sldId id="268" r:id="rId6"/>
    <p:sldId id="269" r:id="rId7"/>
    <p:sldId id="277" r:id="rId8"/>
    <p:sldId id="278" r:id="rId9"/>
    <p:sldId id="279" r:id="rId10"/>
    <p:sldId id="280" r:id="rId11"/>
    <p:sldId id="281" r:id="rId12"/>
    <p:sldId id="284" r:id="rId13"/>
    <p:sldId id="282" r:id="rId14"/>
    <p:sldId id="285" r:id="rId15"/>
    <p:sldId id="286" r:id="rId16"/>
    <p:sldId id="287" r:id="rId17"/>
    <p:sldId id="290" r:id="rId18"/>
    <p:sldId id="289" r:id="rId19"/>
    <p:sldId id="293" r:id="rId20"/>
    <p:sldId id="291" r:id="rId21"/>
    <p:sldId id="294" r:id="rId22"/>
    <p:sldId id="292" r:id="rId23"/>
    <p:sldId id="295" r:id="rId24"/>
    <p:sldId id="296" r:id="rId25"/>
    <p:sldId id="299" r:id="rId26"/>
    <p:sldId id="300" r:id="rId27"/>
    <p:sldId id="298" r:id="rId28"/>
    <p:sldId id="297" r:id="rId29"/>
    <p:sldId id="301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8CBDD-C1CC-43A8-BE75-03E5479FA33D}" v="4" dt="2026-05-11T06:20:33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98" autoAdjust="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Budihal" userId="2dd2abd5e02a52ca" providerId="LiveId" clId="{4BC04F9E-99E4-4592-A73F-181AB48F63CA}"/>
    <pc:docChg chg="undo custSel addSld delSld modSld addSection delSection">
      <pc:chgData name="Priyanka Budihal" userId="2dd2abd5e02a52ca" providerId="LiveId" clId="{4BC04F9E-99E4-4592-A73F-181AB48F63CA}" dt="2026-05-11T06:21:06.581" v="51" actId="1076"/>
      <pc:docMkLst>
        <pc:docMk/>
      </pc:docMkLst>
      <pc:sldChg chg="modSp mod">
        <pc:chgData name="Priyanka Budihal" userId="2dd2abd5e02a52ca" providerId="LiveId" clId="{4BC04F9E-99E4-4592-A73F-181AB48F63CA}" dt="2026-04-20T11:58:29.962" v="1" actId="732"/>
        <pc:sldMkLst>
          <pc:docMk/>
          <pc:sldMk cId="1355467669" sldId="286"/>
        </pc:sldMkLst>
        <pc:picChg chg="mod modCrop">
          <ac:chgData name="Priyanka Budihal" userId="2dd2abd5e02a52ca" providerId="LiveId" clId="{4BC04F9E-99E4-4592-A73F-181AB48F63CA}" dt="2026-04-20T11:58:29.962" v="1" actId="732"/>
          <ac:picMkLst>
            <pc:docMk/>
            <pc:sldMk cId="1355467669" sldId="286"/>
            <ac:picMk id="5" creationId="{77A73291-4660-3A81-7FEE-66E65E6E8306}"/>
          </ac:picMkLst>
        </pc:picChg>
      </pc:sldChg>
      <pc:sldChg chg="modSp mod">
        <pc:chgData name="Priyanka Budihal" userId="2dd2abd5e02a52ca" providerId="LiveId" clId="{4BC04F9E-99E4-4592-A73F-181AB48F63CA}" dt="2026-05-07T14:52:51.971" v="10" actId="1076"/>
        <pc:sldMkLst>
          <pc:docMk/>
          <pc:sldMk cId="1950490791" sldId="290"/>
        </pc:sldMkLst>
        <pc:spChg chg="mod">
          <ac:chgData name="Priyanka Budihal" userId="2dd2abd5e02a52ca" providerId="LiveId" clId="{4BC04F9E-99E4-4592-A73F-181AB48F63CA}" dt="2026-05-07T14:52:51.971" v="10" actId="1076"/>
          <ac:spMkLst>
            <pc:docMk/>
            <pc:sldMk cId="1950490791" sldId="290"/>
            <ac:spMk id="2" creationId="{AC754D45-0CD5-8E54-5983-14F1E31F747E}"/>
          </ac:spMkLst>
        </pc:spChg>
      </pc:sldChg>
      <pc:sldChg chg="addSp modSp mod">
        <pc:chgData name="Priyanka Budihal" userId="2dd2abd5e02a52ca" providerId="LiveId" clId="{4BC04F9E-99E4-4592-A73F-181AB48F63CA}" dt="2026-04-27T04:50:04.745" v="9" actId="14100"/>
        <pc:sldMkLst>
          <pc:docMk/>
          <pc:sldMk cId="3740303366" sldId="300"/>
        </pc:sldMkLst>
        <pc:picChg chg="add mod modCrop">
          <ac:chgData name="Priyanka Budihal" userId="2dd2abd5e02a52ca" providerId="LiveId" clId="{4BC04F9E-99E4-4592-A73F-181AB48F63CA}" dt="2026-04-27T04:50:04.745" v="9" actId="14100"/>
          <ac:picMkLst>
            <pc:docMk/>
            <pc:sldMk cId="3740303366" sldId="300"/>
            <ac:picMk id="4" creationId="{C84F7271-7480-B755-6008-C96C1A4F145F}"/>
          </ac:picMkLst>
        </pc:picChg>
      </pc:sldChg>
      <pc:sldChg chg="addSp modSp new mod">
        <pc:chgData name="Priyanka Budihal" userId="2dd2abd5e02a52ca" providerId="LiveId" clId="{4BC04F9E-99E4-4592-A73F-181AB48F63CA}" dt="2026-05-11T06:21:06.581" v="51" actId="1076"/>
        <pc:sldMkLst>
          <pc:docMk/>
          <pc:sldMk cId="4007604803" sldId="302"/>
        </pc:sldMkLst>
        <pc:spChg chg="add mod">
          <ac:chgData name="Priyanka Budihal" userId="2dd2abd5e02a52ca" providerId="LiveId" clId="{4BC04F9E-99E4-4592-A73F-181AB48F63CA}" dt="2026-05-11T06:21:06.581" v="51" actId="1076"/>
          <ac:spMkLst>
            <pc:docMk/>
            <pc:sldMk cId="4007604803" sldId="302"/>
            <ac:spMk id="2" creationId="{EE614424-EAC6-F9FC-9E32-74B05BEE81CB}"/>
          </ac:spMkLst>
        </pc:spChg>
        <pc:spChg chg="add mod">
          <ac:chgData name="Priyanka Budihal" userId="2dd2abd5e02a52ca" providerId="LiveId" clId="{4BC04F9E-99E4-4592-A73F-181AB48F63CA}" dt="2026-05-11T06:21:03.253" v="50" actId="1076"/>
          <ac:spMkLst>
            <pc:docMk/>
            <pc:sldMk cId="4007604803" sldId="302"/>
            <ac:spMk id="3" creationId="{4291D4B5-F0F7-0B1C-9CB5-0E3641E8BB83}"/>
          </ac:spMkLst>
        </pc:spChg>
      </pc:sldChg>
      <pc:sldChg chg="new del">
        <pc:chgData name="Priyanka Budihal" userId="2dd2abd5e02a52ca" providerId="LiveId" clId="{4BC04F9E-99E4-4592-A73F-181AB48F63CA}" dt="2026-05-11T06:18:13.071" v="12" actId="47"/>
        <pc:sldMkLst>
          <pc:docMk/>
          <pc:sldMk cId="4179345244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D455B-B6EE-487E-8677-C5BE848A038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C8C23-A63C-4625-B3E3-D534A39F8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C8C23-A63C-4625-B3E3-D534A39F83B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4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C8C23-A63C-4625-B3E3-D534A39F83B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042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5392-CE6A-4BC4-94C0-DDCD370D203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535447" y="6163418"/>
            <a:ext cx="4562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Under the Guidance of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Dr. D A Torse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3581" y="4319041"/>
            <a:ext cx="10310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292357" y="1670660"/>
            <a:ext cx="11607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CAPSTONE  PROJECT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1399652246"/>
              </p:ext>
            </p:extLst>
          </p:nvPr>
        </p:nvGraphicFramePr>
        <p:xfrm>
          <a:off x="1802343" y="2945781"/>
          <a:ext cx="8960939" cy="182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6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Priyanka Budihal</a:t>
                      </a:r>
                    </a:p>
                    <a:p>
                      <a:pPr algn="just">
                        <a:buNone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64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Pruthviraj Banoshi</a:t>
                      </a:r>
                    </a:p>
                    <a:p>
                      <a:pPr algn="just">
                        <a:buNone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02FE22BEC058</a:t>
                      </a:r>
                    </a:p>
                    <a:p>
                      <a:pPr algn="just">
                        <a:buNone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57" y="49422"/>
            <a:ext cx="11607284" cy="15221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3EDC57-E59E-03A0-F587-3BAC1EE5681F}"/>
              </a:ext>
            </a:extLst>
          </p:cNvPr>
          <p:cNvSpPr txBox="1"/>
          <p:nvPr/>
        </p:nvSpPr>
        <p:spPr>
          <a:xfrm>
            <a:off x="1297857" y="2185179"/>
            <a:ext cx="9969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I-CARE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Car Accident Response &amp; Emergency System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614424-EAC6-F9FC-9E32-74B05BEE81CB}"/>
              </a:ext>
            </a:extLst>
          </p:cNvPr>
          <p:cNvSpPr txBox="1"/>
          <p:nvPr/>
        </p:nvSpPr>
        <p:spPr>
          <a:xfrm>
            <a:off x="456469" y="1736813"/>
            <a:ext cx="106560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Fatalities often result from the inability of incapacitated victims to call for help, leading to critical delays. Current systems lack integrated monitoring for driver fatigue and real-time hazard detection, preventing rapid medical intervention during the vital "Golden Hour."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1D4B5-F0F7-0B1C-9CB5-0E3641E8BB83}"/>
              </a:ext>
            </a:extLst>
          </p:cNvPr>
          <p:cNvSpPr txBox="1"/>
          <p:nvPr/>
        </p:nvSpPr>
        <p:spPr>
          <a:xfrm>
            <a:off x="340585" y="535900"/>
            <a:ext cx="6353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</p:spTree>
    <p:extLst>
      <p:ext uri="{BB962C8B-B14F-4D97-AF65-F5344CB8AC3E}">
        <p14:creationId xmlns:p14="http://schemas.microsoft.com/office/powerpoint/2010/main" val="400760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89934"/>
            <a:ext cx="11218606" cy="766917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the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51" y="1779637"/>
            <a:ext cx="10906098" cy="3480619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road accidents due to driver drowsiness and fatigue.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driver monitoring systems in regular vehicles.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accident detection systems use simple threshold logic, leading to false alarms.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classification of accident severity.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informing emergency services increases fatality rates.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integrated AI-based system that both prevents accidents and ensures rapid emergency response with accurate GPS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BD7F-B20B-0243-9FF1-E0D605D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00" y="363795"/>
            <a:ext cx="10515600" cy="99305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Relating Socio Economic Context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0707-0FD5-C297-E117-A1066B5E2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600" y="1615170"/>
            <a:ext cx="11408799" cy="3627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road accident rates lead to loss of productive workforce.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 face financial burden due to medical expenses and loss of earning members.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emergency response increases mortality and disability rates.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regions lack affordable intelligent safety systems in vehicles.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accidents negatively impact national healthcare systems and economic growth.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1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CE2-A199-492D-95BF-8BD1FF457610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8880707"/>
              </p:ext>
            </p:extLst>
          </p:nvPr>
        </p:nvGraphicFramePr>
        <p:xfrm>
          <a:off x="570015" y="1386348"/>
          <a:ext cx="11141822" cy="479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1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Smart Accident Detection And Alert System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Detect crash using vibration sensor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Confirm passenger using ultrasonic sensor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Arduino processes data from sensors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GPS gets location → GSM sends SMS to contacts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30-sec timer allows user to cancel if safe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accidents automatically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 location to emergency contacts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Reduce response time and save lives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Provide manual cancel option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network and GPS signal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May give false alerts if not calibrated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Hardware must survive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Sends only to saved contacts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4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Intelligent Accident Detection and Alert System for Emergency Medical Assistance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Accelerometer detects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Heartbeat sensor checks driver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Sends data via Bluetooth to MCU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App alerts nearest medical center &amp; contacts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accidents automatically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Monitor driver condition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Alert medical help quickly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Share location instantly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Bluetooth &amp;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May give false alerts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Sensors must survive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Works only with saved contacts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0015" y="411899"/>
            <a:ext cx="73904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CE2-A199-492D-95BF-8BD1FF457610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8E79B2-6A88-3AA5-294B-B2EE9A5832C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7474188"/>
              </p:ext>
            </p:extLst>
          </p:nvPr>
        </p:nvGraphicFramePr>
        <p:xfrm>
          <a:off x="570015" y="1386348"/>
          <a:ext cx="11141822" cy="479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1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Enhancing Road Safety: A Smart Accident Alert System for Rapid Emergency Response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Sensors detect sudden vehicle impact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Microcontroller processes sensor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GPS module fetches accident location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GSM module sends alert SMS to emergency contacts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Timer lets user cancel if no help is needed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accidents instantly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 location to emergency services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Reduce emergency response time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Save lives during the golden hour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GPS and network signal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May trigger false alerts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Hardware must stay intact after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Limited to pre-stored contacts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4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Vehicle Accident Detection, Life-Saving &amp; Smart Reporting System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Sensors detect crash impact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Microcontroller collects sensor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GPS gets exact accident location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GSM sends alert SMS to emergency contacts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Sends data to nearby hospitals/authorities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vehicle accidents automatically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Notify emergency services quickly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Reduce response time and save lives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Provide accurate accident location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GPS and network connectivity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May send false alerts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Hardware must survive the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Works only with pre-saved contacts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3B0D-B818-9563-1EF0-15DEFA6C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7A533-3DB2-26DF-BB5B-2DFADE52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306F6-227C-EF75-CDBD-220F5E2E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CE2-A199-492D-95BF-8BD1FF457610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943642-9796-602B-D203-6FE77748C04D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411679"/>
              </p:ext>
            </p:extLst>
          </p:nvPr>
        </p:nvGraphicFramePr>
        <p:xfrm>
          <a:off x="752577" y="953729"/>
          <a:ext cx="10490200" cy="5758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38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Vehicle Accident Emergency Alert System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Accelerometer detects accident impact (roll/pitch/yaw)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Arduino processes data and checks threshold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GPS/GPRS gets accident location (</a:t>
                      </a:r>
                      <a:r>
                        <a:rPr lang="en-IN" sz="1200" dirty="0" err="1"/>
                        <a:t>lat</a:t>
                      </a:r>
                      <a:r>
                        <a:rPr lang="en-IN" sz="1200" dirty="0"/>
                        <a:t>-long)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GSM module sends SMS with location to emergency contacts &amp; </a:t>
                      </a:r>
                      <a:r>
                        <a:rPr lang="en-IN" sz="1200" dirty="0" err="1"/>
                        <a:t>centers</a:t>
                      </a:r>
                      <a:endParaRPr lang="en-IN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Buzzer alarm triggers; user can cancel if safe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accidents automatically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 exact location to hospitals and contacts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Reduce emergency response time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Save lives with quick medical help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GPS and network signal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May give false alerts if misread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Hardware must survive crash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Works only with pre-saved contacts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7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Accident Detection and Alerting Systems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Sensors (accelerometer, vibration) detect accidents.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Arduino processes data, activates GSM &amp; GPS.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GPS gives location, GSM sends alert to rescue teams.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accidents automatically.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Send quick alerts to hospitals/police.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Provide exact accident location.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Save lives, especially in remote areas.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False alarms at low speed.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 damage not detected.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 GSM → no communication.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Signal blocked in tunnels/mountains.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866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41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7DE5-272E-7A28-999C-51842F86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Multiple Solutions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B1420F-48CD-7465-2864-4A5E900BA0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8313" y="1630559"/>
            <a:ext cx="10675374" cy="3596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camera-based AI system to detect driver drowsiness in real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 fusion (accelerometer + gyroscope) with machine learning to classify accident severity.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GPS and GSM modules to automatically send emergency alerts with location details.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cloud-connected version for storing accident data and analytics (future enhancement).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low-cost embedded edge AI solution to make the system affordable for regular vehicles.</a:t>
            </a:r>
          </a:p>
        </p:txBody>
      </p:sp>
    </p:spTree>
    <p:extLst>
      <p:ext uri="{BB962C8B-B14F-4D97-AF65-F5344CB8AC3E}">
        <p14:creationId xmlns:p14="http://schemas.microsoft.com/office/powerpoint/2010/main" val="394112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98F6-F8F0-A5B9-D8B4-655D36BC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365125"/>
            <a:ext cx="11454579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Justifications With Support Of Technical Literature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3A74-5B55-70C2-0784-BE2A5A7A3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887795"/>
            <a:ext cx="11454579" cy="4414682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automotive safety research show that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contributes significantly to road accidents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computer vision–based eye and head monitoring systems are widely recommended for real-time detection.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in IEEE and transportation journals demonstrate that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outperform traditional threshold-based crash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false positives and improving severity classification accuracy.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Transportation System (ITS) literature supports the use of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(IMU + GPS + communication modules)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reliable accident detection and faster emergency response.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Edge AI solutions are justified in recent technical publications for providing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latency, real-time processing, and independence from cloud connectivity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critical in automotive safety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29517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4447-F811-EF46-94A7-DD836500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147021"/>
            <a:ext cx="11663680" cy="74705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Describe Various Engineering Roles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FC359C-CC0D-6BC8-9C93-214B048C0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120" y="1005840"/>
            <a:ext cx="11287760" cy="549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designing and programming the microcontroller/Raspberry Pi, interfacing sensors (IMU, GPS, GSM), and ensuring real-time system operation.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and trains machine learning models for driver drowsiness detection and accident severity classification, and deploys them on edge devices.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camera-based driver monitoring using face detection, eye tracking, and fatigue analysis algorithms.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 Systems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system meets automotive safety standards, integrates modules within vehicle architecture, and validates real-world performance.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Systems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GPS tracking, GSM alert transmission, and ensures reliable emergency communication.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 Engineer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system testing, accuracy evaluation, real-time validation, and reliability analysis under different driving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3817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608D-2109-0550-76EB-7A0EDD7A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Tenets Of The  IEEE And ACM Professional Code Of Ethics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14272E-52B9-C3F6-735D-6BA4E9D5E4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2933"/>
            <a:ext cx="10515600" cy="449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Code of Ethics – Key Tenets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public safety, health, and welfare.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conflicts of interest and act honestly.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honest and realistic in claims or estimates.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bribery and unethical practices.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understanding of technology and its consequences.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and improve technical competence.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all persons fairly and without discrimination.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1900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A0E0-E916-DBD6-B223-7A6B9C3F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Tenets Of The  IEEE And ACM Professional Code Of Ethics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F33B3-791D-9A47-4BAD-473F6A011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Code of Ethics – Key Tenets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society and human well-being.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harm to others.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honest and trustworthy.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privacy and confidentiality.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Honor intellectual property rights.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systems are safe, secure, and reliable.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professional responsibility and accountability.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928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7E27-9D7C-6955-C39B-CE1D6069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14881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Limitations In The Objectives And Sources Of Error</a:t>
            </a:r>
            <a:endParaRPr lang="en-IN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BE6831-BE7B-6F31-BFF9-1A8CDC3C0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445" y="1991956"/>
            <a:ext cx="10382865" cy="396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Objectives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processing may be limited by hardware performance (Raspberry Pi/embedded device constraints).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drowsiness detection depends on lighting conditions and camera placement.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severity classification may require large datasets for high accuracy.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may not fully integrate with all vehicle types without modification.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GSM network availability for sending emergency alerts.</a:t>
            </a:r>
          </a:p>
        </p:txBody>
      </p:sp>
    </p:spTree>
    <p:extLst>
      <p:ext uri="{BB962C8B-B14F-4D97-AF65-F5344CB8AC3E}">
        <p14:creationId xmlns:p14="http://schemas.microsoft.com/office/powerpoint/2010/main" val="570711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F1751E-D344-5E26-5583-D19C4711A821}"/>
              </a:ext>
            </a:extLst>
          </p:cNvPr>
          <p:cNvSpPr txBox="1">
            <a:spLocks/>
          </p:cNvSpPr>
          <p:nvPr/>
        </p:nvSpPr>
        <p:spPr>
          <a:xfrm>
            <a:off x="749710" y="1488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Limitations In The Objectives And Sources Of Error</a:t>
            </a:r>
            <a:endParaRPr lang="en-IN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BCD3B-E599-9A4C-C9CD-5DF2A1210C91}"/>
              </a:ext>
            </a:extLst>
          </p:cNvPr>
          <p:cNvSpPr txBox="1"/>
          <p:nvPr/>
        </p:nvSpPr>
        <p:spPr>
          <a:xfrm>
            <a:off x="749710" y="1798380"/>
            <a:ext cx="1071077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Error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Visibility Issues: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 light, glare, or shadows can reduce camera-based drowsiness detection accuracy.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Camera Placement: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Incorrect angle or driver wearing glasses/mask may affect eye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Noise: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Road vibrations, potholes, or sudden braking can cause inaccurate IMU readings.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&amp; Network Limitations: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Weak GPS signals or poor GSM coverage may delay location-based emergency alerts.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AI Training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Insufficient or non-diverse datasets may reduce classification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89773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A792-557C-B68D-4D69-27DE70E2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" y="217641"/>
            <a:ext cx="10515600" cy="121786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- Accident Alert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73291-4660-3A81-7FEE-66E65E6E8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06" r="1332"/>
          <a:stretch>
            <a:fillRect/>
          </a:stretch>
        </p:blipFill>
        <p:spPr>
          <a:xfrm>
            <a:off x="550606" y="1710813"/>
            <a:ext cx="10659397" cy="446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195596-C654-1C24-445B-4FDAAEBB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" t="2559"/>
          <a:stretch>
            <a:fillRect/>
          </a:stretch>
        </p:blipFill>
        <p:spPr>
          <a:xfrm>
            <a:off x="648929" y="324465"/>
            <a:ext cx="10933471" cy="56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69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4D45-0CD5-8E54-5983-14F1E31F7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37377" y="543511"/>
            <a:ext cx="10515600" cy="67761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DD8A2B-1B1E-7372-1CC0-A0889086254A}"/>
              </a:ext>
            </a:extLst>
          </p:cNvPr>
          <p:cNvSpPr/>
          <p:nvPr/>
        </p:nvSpPr>
        <p:spPr>
          <a:xfrm>
            <a:off x="4748462" y="112295"/>
            <a:ext cx="2197769" cy="67761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E7D68-45E9-8A23-A3EF-A2BB0139B9A6}"/>
              </a:ext>
            </a:extLst>
          </p:cNvPr>
          <p:cNvSpPr/>
          <p:nvPr/>
        </p:nvSpPr>
        <p:spPr>
          <a:xfrm>
            <a:off x="3946358" y="1098884"/>
            <a:ext cx="4315326" cy="6776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Initialize Raspberry Pi 4B</a:t>
            </a:r>
          </a:p>
          <a:p>
            <a:pPr algn="ctr"/>
            <a:r>
              <a:rPr lang="en-US"/>
              <a:t> (Sensors + GSM + GPS)</a:t>
            </a: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6D0-2A5E-6CF2-081D-E1E9DFB740EF}"/>
              </a:ext>
            </a:extLst>
          </p:cNvPr>
          <p:cNvSpPr/>
          <p:nvPr/>
        </p:nvSpPr>
        <p:spPr>
          <a:xfrm>
            <a:off x="3946358" y="2085474"/>
            <a:ext cx="4427621" cy="4491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Continuous Monitoring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10-EB21-2955-C40C-E6DDB054E5E1}"/>
              </a:ext>
            </a:extLst>
          </p:cNvPr>
          <p:cNvSpPr/>
          <p:nvPr/>
        </p:nvSpPr>
        <p:spPr>
          <a:xfrm>
            <a:off x="3946358" y="2967789"/>
            <a:ext cx="4555958" cy="6776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Check Conditions:</a:t>
            </a:r>
          </a:p>
          <a:p>
            <a:pPr algn="ctr"/>
            <a:r>
              <a:rPr lang="en-IN" dirty="0"/>
              <a:t>(Crash / Gas / SOS / Drowsiness)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FB0279-35E3-7119-4043-983FF4727808}"/>
              </a:ext>
            </a:extLst>
          </p:cNvPr>
          <p:cNvSpPr/>
          <p:nvPr/>
        </p:nvSpPr>
        <p:spPr>
          <a:xfrm>
            <a:off x="9485541" y="3150442"/>
            <a:ext cx="1455821" cy="3208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Yes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D8ADE-66F3-99CC-0033-BD06541E1806}"/>
              </a:ext>
            </a:extLst>
          </p:cNvPr>
          <p:cNvSpPr/>
          <p:nvPr/>
        </p:nvSpPr>
        <p:spPr>
          <a:xfrm>
            <a:off x="9485541" y="3904108"/>
            <a:ext cx="1455821" cy="3208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Buzzer 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33081D-9B92-A642-6A5D-AE2E92816814}"/>
              </a:ext>
            </a:extLst>
          </p:cNvPr>
          <p:cNvSpPr/>
          <p:nvPr/>
        </p:nvSpPr>
        <p:spPr>
          <a:xfrm>
            <a:off x="9485541" y="4515853"/>
            <a:ext cx="1455821" cy="3208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Make Call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23BCD-11D8-89C3-522D-15B57A75D553}"/>
              </a:ext>
            </a:extLst>
          </p:cNvPr>
          <p:cNvSpPr/>
          <p:nvPr/>
        </p:nvSpPr>
        <p:spPr>
          <a:xfrm>
            <a:off x="9485540" y="5226103"/>
            <a:ext cx="1455821" cy="857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Send SMS with GPS Location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8BF743-AD9F-4AAE-3DB4-AFCB46AF9EC2}"/>
              </a:ext>
            </a:extLst>
          </p:cNvPr>
          <p:cNvSpPr/>
          <p:nvPr/>
        </p:nvSpPr>
        <p:spPr>
          <a:xfrm>
            <a:off x="7563853" y="6243484"/>
            <a:ext cx="1620252" cy="4468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Displays on LCD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8C28D2-2DE1-79D1-D2F9-47F9BFE30699}"/>
              </a:ext>
            </a:extLst>
          </p:cNvPr>
          <p:cNvSpPr/>
          <p:nvPr/>
        </p:nvSpPr>
        <p:spPr>
          <a:xfrm>
            <a:off x="5285874" y="6287968"/>
            <a:ext cx="1620252" cy="357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Repeat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B16D39-C6F7-80EA-067E-16484CA7AC04}"/>
              </a:ext>
            </a:extLst>
          </p:cNvPr>
          <p:cNvSpPr/>
          <p:nvPr/>
        </p:nvSpPr>
        <p:spPr>
          <a:xfrm>
            <a:off x="1211438" y="3150442"/>
            <a:ext cx="1495021" cy="36534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DBD21F-DBB7-300A-6015-1A05C5C13A20}"/>
              </a:ext>
            </a:extLst>
          </p:cNvPr>
          <p:cNvSpPr/>
          <p:nvPr/>
        </p:nvSpPr>
        <p:spPr>
          <a:xfrm>
            <a:off x="932253" y="4267201"/>
            <a:ext cx="2053390" cy="81814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Continue Monitoring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6AE054-D13B-89A7-6A7F-84ECF99F4067}"/>
              </a:ext>
            </a:extLst>
          </p:cNvPr>
          <p:cNvCxnSpPr>
            <a:stCxn id="4" idx="4"/>
          </p:cNvCxnSpPr>
          <p:nvPr/>
        </p:nvCxnSpPr>
        <p:spPr>
          <a:xfrm flipH="1">
            <a:off x="5847346" y="789906"/>
            <a:ext cx="0" cy="308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830703-DEEE-A48F-93D9-FAE3098F2407}"/>
              </a:ext>
            </a:extLst>
          </p:cNvPr>
          <p:cNvCxnSpPr/>
          <p:nvPr/>
        </p:nvCxnSpPr>
        <p:spPr>
          <a:xfrm>
            <a:off x="5847346" y="1776495"/>
            <a:ext cx="0" cy="308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BA6C6B-C419-CDCC-7FDF-C79F5332399C}"/>
              </a:ext>
            </a:extLst>
          </p:cNvPr>
          <p:cNvCxnSpPr/>
          <p:nvPr/>
        </p:nvCxnSpPr>
        <p:spPr>
          <a:xfrm>
            <a:off x="5847346" y="2534653"/>
            <a:ext cx="0" cy="433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4E6602-8DC9-A5B0-31E3-A5D8B9CE3A1D}"/>
              </a:ext>
            </a:extLst>
          </p:cNvPr>
          <p:cNvCxnSpPr>
            <a:stCxn id="9" idx="1"/>
            <a:endCxn id="16" idx="3"/>
          </p:cNvCxnSpPr>
          <p:nvPr/>
        </p:nvCxnSpPr>
        <p:spPr>
          <a:xfrm flipH="1">
            <a:off x="2706459" y="3306595"/>
            <a:ext cx="1239899" cy="26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EFDD42-B05A-AF4B-C8A7-BCB6F077094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502316" y="3306595"/>
            <a:ext cx="983225" cy="4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BF0909-D09B-6EC1-7664-5B3786572A23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958948" y="3515788"/>
            <a:ext cx="1" cy="751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C20F95-C5CC-C5B0-96AF-B07481E2999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0213452" y="3471284"/>
            <a:ext cx="0" cy="432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76C8155-23AF-8548-6367-C0F0953161EC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0213452" y="4224950"/>
            <a:ext cx="0" cy="290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4582FF-2E06-6FC4-6E88-D345158C27FB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10213451" y="4836695"/>
            <a:ext cx="1" cy="389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FE3931-87BF-C0FE-B7D2-3CB28B53A103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>
            <a:off x="6906126" y="6466908"/>
            <a:ext cx="657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881C710-4223-F955-D8D3-A6DE302E245D}"/>
              </a:ext>
            </a:extLst>
          </p:cNvPr>
          <p:cNvCxnSpPr>
            <a:stCxn id="13" idx="2"/>
          </p:cNvCxnSpPr>
          <p:nvPr/>
        </p:nvCxnSpPr>
        <p:spPr>
          <a:xfrm rot="5400000">
            <a:off x="9507114" y="5760570"/>
            <a:ext cx="383329" cy="10293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490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76300-095D-D4C2-E5CE-4AEFC70A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77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Block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B14067-5E52-BB37-33D9-6226CC34C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2"/>
          <a:stretch>
            <a:fillRect/>
          </a:stretch>
        </p:blipFill>
        <p:spPr>
          <a:xfrm>
            <a:off x="838200" y="1474840"/>
            <a:ext cx="10331245" cy="47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05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2BF3-E280-E202-3580-ABEC4E5D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1A923-E87C-0845-8BD1-6B968D018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t="10241"/>
          <a:stretch>
            <a:fillRect/>
          </a:stretch>
        </p:blipFill>
        <p:spPr>
          <a:xfrm>
            <a:off x="1582993" y="1189704"/>
            <a:ext cx="9438968" cy="502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8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66C0-F954-C85D-ABD8-104E120E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2"/>
            <a:ext cx="1103916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with Hardware specification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58B7E7-A48B-135A-D814-1CE75BCBC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7"/>
          <a:stretch>
            <a:fillRect/>
          </a:stretch>
        </p:blipFill>
        <p:spPr>
          <a:xfrm>
            <a:off x="1081548" y="1690688"/>
            <a:ext cx="10137058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7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D92A-C0BE-C91B-3061-0BB1D30C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with Software specification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7895D2-344A-8F9F-4AE2-5ECC5D328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9"/>
          <a:stretch>
            <a:fillRect/>
          </a:stretch>
        </p:blipFill>
        <p:spPr>
          <a:xfrm>
            <a:off x="1258529" y="1445342"/>
            <a:ext cx="9517626" cy="472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98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A1CB-9697-4722-B091-C46CD8F9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Optimization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8CDE-C878-B878-2BB5-05768E04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Sensor Sensitivity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Calibrate MPU6050 to minimize false accident detection.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Response Time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interrupt-based logic for faster reaction.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Communication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Prioritize GSM call, then SMS with GPS link for reliability.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Power Usage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low-power mode during normal driving.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Software Design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functions for easy debugging and efficiency.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Detection Optimization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 smoke sensor to avoid false alarms</a:t>
            </a:r>
          </a:p>
          <a:p>
            <a:pPr marL="285750" indent="-28575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 Detection Improvement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Optimization webcam processing for better accuracy</a:t>
            </a:r>
          </a:p>
          <a:p>
            <a:pPr marL="285750" indent="-28575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GPS 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Apply filtering to refine location precision.</a:t>
            </a:r>
          </a:p>
          <a:p>
            <a:pPr marL="285750" indent="-28575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Simulate real accident conditions for performance improvement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7047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98C1-3BE0-E639-FFEE-83A20AD3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57B6-069C-ED7D-E823-0B4E7C669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Phase: Continuous monitoring of vehicular G-force (MPU6050) and gas concentration (MQ2).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Feedback: High-frequency Buzzer and LCD status update upon threshold violation.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Interlock: A 15-second delay allows a conscious driver to manually reset the system if uninjured.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Trigger: If the timer expires (suspected injury), the SIM800L initiates a priority voice call.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Broadcast: GPS coordinates are fetched via Neo-6M and sent as a live-link SMS to emergency contacts.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Intelligence: Raspberry Pi 4B performs concurrent image processing to detect driver fatigue via EAR (Eye Aspect Ratio).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46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E348-1D6A-E18E-9F82-90D9D166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E57489-B419-207D-457D-BD4503C38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453084"/>
              </p:ext>
            </p:extLst>
          </p:nvPr>
        </p:nvGraphicFramePr>
        <p:xfrm>
          <a:off x="838200" y="1690688"/>
          <a:ext cx="10980176" cy="429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123">
                  <a:extLst>
                    <a:ext uri="{9D8B030D-6E8A-4147-A177-3AD203B41FA5}">
                      <a16:colId xmlns:a16="http://schemas.microsoft.com/office/drawing/2014/main" val="91991136"/>
                    </a:ext>
                  </a:extLst>
                </a:gridCol>
                <a:gridCol w="3264309">
                  <a:extLst>
                    <a:ext uri="{9D8B030D-6E8A-4147-A177-3AD203B41FA5}">
                      <a16:colId xmlns:a16="http://schemas.microsoft.com/office/drawing/2014/main" val="1625258750"/>
                    </a:ext>
                  </a:extLst>
                </a:gridCol>
                <a:gridCol w="2871020">
                  <a:extLst>
                    <a:ext uri="{9D8B030D-6E8A-4147-A177-3AD203B41FA5}">
                      <a16:colId xmlns:a16="http://schemas.microsoft.com/office/drawing/2014/main" val="3226618730"/>
                    </a:ext>
                  </a:extLst>
                </a:gridCol>
                <a:gridCol w="2536724">
                  <a:extLst>
                    <a:ext uri="{9D8B030D-6E8A-4147-A177-3AD203B41FA5}">
                      <a16:colId xmlns:a16="http://schemas.microsoft.com/office/drawing/2014/main" val="2937479100"/>
                    </a:ext>
                  </a:extLst>
                </a:gridCol>
              </a:tblGrid>
              <a:tr h="39708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Pre-Optimization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Post-Optimization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185023"/>
                  </a:ext>
                </a:extLst>
              </a:tr>
              <a:tr h="53972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Drowsiness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(High False Positives due to normal blinking)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(~92%) (Algorithm calibrated for EAR time-threshold)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False Alarm Rate by ~70%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932681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Crash Detection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~25 Seconds (Signal noise </a:t>
                      </a:r>
                      <a:r>
                        <a:rPr lang="fr-F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 Seconds (Interrupt-driven Pico 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Alerting (92% reduction in latency)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02158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Detection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Manual/Unstable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Low Digital Trigger (Precise calibration)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&amp; More Reliable Trigger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278732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SOS-to-Call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Occasional GSM Network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AT Command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and Faster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727708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±100m (Intermittent signal)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±15m (Optimized Neo-6M NMEA parsing)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GPS Location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95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862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7402-0024-7FE3-A0EE-8C38464C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76" y="-9699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 : Crash detected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7AD82A-A328-B4C4-25B7-B8A3CC374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63" y="1690688"/>
            <a:ext cx="282791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03178-67EE-F4CF-73C4-0DD2983BF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031" y="1690687"/>
            <a:ext cx="3223814" cy="4351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4B329-DD55-669C-BA8A-0D298F5BBE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826" y="1690686"/>
            <a:ext cx="274985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08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3F96-201D-6338-D1AE-0C9BF8B4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9921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 :Drowsiness detected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BAAA0-D3FE-C076-534C-75BD9FE5E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95" y="1825625"/>
            <a:ext cx="4586521" cy="4270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4F7271-7480-B755-6008-C96C1A4F1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3"/>
          <a:stretch>
            <a:fillRect/>
          </a:stretch>
        </p:blipFill>
        <p:spPr>
          <a:xfrm>
            <a:off x="6539065" y="1825624"/>
            <a:ext cx="4128935" cy="42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0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E218-CE08-BE99-9D10-DF97C0AD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7998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Gas Detected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44786F-FEC9-5784-7B22-4513CF301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41" y="1690688"/>
            <a:ext cx="3530265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6F7DA6-BFFA-B9E2-707E-39CCFCBA4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510" y="1690688"/>
            <a:ext cx="32394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51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E452-C3CF-6B1B-3F4E-19A78B22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5" y="201561"/>
            <a:ext cx="10515600" cy="84557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SOS Alert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F5BE24-CEEB-FE4A-A0F1-C202887CF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21" y="1568911"/>
            <a:ext cx="3276470" cy="44189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7D4D94-1689-57D0-C1B6-F8E1FD1D0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067" y="1568911"/>
            <a:ext cx="3086100" cy="441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92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E281-713C-9C9B-4AD2-F13B07F0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A9D6F-A6BB-6C96-CB10-5C0C56302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ICARE system successfully integrates computer vision and sensor fusion to provide a robust vehicular safety solution. By utilizing a dual-processor architecture, the project achieves real-time drowsiness detection alongside high-speed accident sensing. Post-optimization results demonstrate a significant increase in reliability, effectively minimizing false alarms while ensuring that precise emergency alerts and GPS locations are dispatched within seconds of a critical event. This system offers a cost-effective, life-saving framework designed to drastically reduce emergency response times on the road.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471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8794-DBF1-A1CB-18F0-4E6C373FB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1458" y="1825625"/>
            <a:ext cx="7922341" cy="241207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85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THANK YOU</a:t>
            </a:r>
            <a:endParaRPr lang="en-IN" sz="18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80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4*221"/>
  <p:tag name="TABLE_ENDDRAG_RECT" val="59*48*854*2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4*221"/>
  <p:tag name="TABLE_ENDDRAG_RECT" val="59*48*854*2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6*110"/>
  <p:tag name="TABLE_ENDDRAG_RECT" val="68*37*826*1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1907</Words>
  <Application>Microsoft Office PowerPoint</Application>
  <PresentationFormat>Widescreen</PresentationFormat>
  <Paragraphs>270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Identification of the Problem</vt:lpstr>
      <vt:lpstr>Problem Relating Socio Economic Context</vt:lpstr>
      <vt:lpstr>PowerPoint Presentation</vt:lpstr>
      <vt:lpstr>PowerPoint Presentation</vt:lpstr>
      <vt:lpstr>PowerPoint Presentation</vt:lpstr>
      <vt:lpstr>Identifying Multiple Solutions</vt:lpstr>
      <vt:lpstr>Justifications With Support Of Technical Literature</vt:lpstr>
      <vt:lpstr>Identify And Describe Various Engineering Roles</vt:lpstr>
      <vt:lpstr>Identify Tenets Of The  IEEE And ACM Professional Code Of Ethics</vt:lpstr>
      <vt:lpstr>Identify Tenets Of The  IEEE And ACM Professional Code Of Ethics</vt:lpstr>
      <vt:lpstr>Identify Limitations In The Objectives And Sources Of Error</vt:lpstr>
      <vt:lpstr>PowerPoint Presentation</vt:lpstr>
      <vt:lpstr>Gantt Chart - Accident Alert System</vt:lpstr>
      <vt:lpstr>PowerPoint Presentation</vt:lpstr>
      <vt:lpstr>Work flow :</vt:lpstr>
      <vt:lpstr>Functional Block diagram </vt:lpstr>
      <vt:lpstr>Simulation</vt:lpstr>
      <vt:lpstr>Block diagram with Hardware specification</vt:lpstr>
      <vt:lpstr>Block diagram with Software specification</vt:lpstr>
      <vt:lpstr>Plan Optimization</vt:lpstr>
      <vt:lpstr>Implementation</vt:lpstr>
      <vt:lpstr>Result Analysis</vt:lpstr>
      <vt:lpstr>Result  Case 1 : Crash detected</vt:lpstr>
      <vt:lpstr>Result Case 2 :Drowsiness detected</vt:lpstr>
      <vt:lpstr>Result Case 3: Gas Detected </vt:lpstr>
      <vt:lpstr>Result Case 4: SOS Alert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shahapurkar</dc:creator>
  <cp:lastModifiedBy>Pruthviraj Banoshi</cp:lastModifiedBy>
  <cp:revision>15</cp:revision>
  <dcterms:created xsi:type="dcterms:W3CDTF">2025-04-15T18:21:00Z</dcterms:created>
  <dcterms:modified xsi:type="dcterms:W3CDTF">2026-05-20T09:39:12Z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CC8BFE79208541FC9653E20F7AFE65AB_12</vt:lpwstr>
  </property>
  <property fmtid="{D5CDD505-2E9C-101B-9397-08002B2CF9AE}" pid="3" name="KSOProductBuildVer">
    <vt:lpwstr>1033-12.2.0.21179</vt:lpwstr>
  </property>
</Properties>
</file>